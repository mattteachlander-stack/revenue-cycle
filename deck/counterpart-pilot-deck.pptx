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148840"/>
            <a:ext cx="10058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3774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5200" b="1" i="0">
                <a:solidFill>
                  <a:srgbClr val="FFFFFF"/>
                </a:solidFill>
                <a:latin typeface="Georgia"/>
              </a:rPr>
              <a:t>Counterpart Health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D9E6E4"/>
                </a:solidFill>
                <a:latin typeface="Georgia"/>
              </a:rPr>
              <a:t>The contracting team your day hospital never had.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97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D9E6E4"/>
                </a:solidFill>
                <a:latin typeface="Calibri"/>
              </a:rPr>
              <a:t>AI-assisted HPPA negotiation and contract intelligence for Australian day hospitals and independent private hospitals.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AA5A2"/>
                </a:solidFill>
                <a:latin typeface="Calibri"/>
              </a:rPr>
              <a:t>Briefing for prospective pilot sites · All product imagery from a working demonstration on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D9E6E4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D9E6E4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160">
                <a:solidFill>
                  <a:srgbClr val="336C69"/>
                </a:solidFill>
                <a:latin typeface="Calibri"/>
              </a:rPr>
              <a:t>THE PROBLEM, FROM YOUR CHAIR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0201F"/>
                </a:solidFill>
                <a:latin typeface="Georgia"/>
              </a:rPr>
              <a:t>The negotiation you dread arrives every three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10201F"/>
                </a:solidFill>
                <a:latin typeface="Calibri"/>
              </a:rPr>
              <a:t>The letter lands in June. </a:t>
            </a:r>
            <a:r>
              <a:rPr sz="1500">
                <a:solidFill>
                  <a:srgbClr val="5D6763"/>
                </a:solidFill>
                <a:latin typeface="Calibri"/>
              </a:rPr>
              <a:t>Your HPPA expires in November. The fund invites "proposals", attaches nothing, and suggests your rates are already generous.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10201F"/>
                </a:solidFill>
                <a:latin typeface="Calibri"/>
              </a:rPr>
              <a:t>You negotiate between theatre lists. </a:t>
            </a:r>
            <a:r>
              <a:rPr sz="1500">
                <a:solidFill>
                  <a:srgbClr val="5D6763"/>
                </a:solidFill>
                <a:latin typeface="Calibri"/>
              </a:rPr>
              <a:t>No benchmarks, no contracting team, no time — against a national fund team that does this every day, with data on every comparable facility.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10201F"/>
                </a:solidFill>
                <a:latin typeface="Calibri"/>
              </a:rPr>
              <a:t>The contract reads politely and bites quietly. </a:t>
            </a:r>
            <a:r>
              <a:rPr sz="1500">
                <a:solidFill>
                  <a:srgbClr val="5D6763"/>
                </a:solidFill>
                <a:latin typeface="Calibri"/>
              </a:rPr>
              <a:t>"CPI indexation" with a discretionary carve-out. Re-banding "alignments" that cut rates without a negotiation. A holdover clause that makes every month of delay free — for them.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 b="1">
                <a:solidFill>
                  <a:srgbClr val="10201F"/>
                </a:solidFill>
                <a:latin typeface="Calibri"/>
              </a:rPr>
              <a:t>So you sign. </a:t>
            </a:r>
            <a:r>
              <a:rPr sz="1500">
                <a:solidFill>
                  <a:srgbClr val="5D6763"/>
                </a:solidFill>
                <a:latin typeface="Calibri"/>
              </a:rPr>
              <a:t>And the gap compounds for three more years, on a facility already running at a 4–5% margin.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920240"/>
            <a:ext cx="4846320" cy="4069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2194560"/>
            <a:ext cx="4206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336C69"/>
                </a:solidFill>
                <a:latin typeface="Calibri"/>
              </a:rPr>
              <a:t>Sound familiar?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1">
                <a:solidFill>
                  <a:srgbClr val="10201F"/>
                </a:solidFill>
                <a:latin typeface="Georgia"/>
              </a:rPr>
              <a:t>“Our last renewal, the fund paid 1.9% indexation in a 3.4% CPI year — the contract let them. Then two ‘classification alignments’ moved our four best ophthalmic groups down a band. We found out what it cost us at year end.”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A938E"/>
                </a:solidFill>
                <a:latin typeface="Calibri"/>
              </a:rPr>
              <a:t>— Composite scenario. The figures are from our synthetic demonstration facility; the mechanics are from real, common HPPA clauses.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160">
                <a:solidFill>
                  <a:srgbClr val="336C69"/>
                </a:solidFill>
                <a:latin typeface="Calibri"/>
              </a:rPr>
              <a:t>THE INFORMATION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0201F"/>
                </a:solidFill>
                <a:latin typeface="Georgia"/>
              </a:rPr>
              <a:t>What the fund knows that you don’t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D6763"/>
                </a:solidFill>
                <a:latin typeface="Calibri"/>
              </a:rPr>
              <a:t>Public data alone shows how uneven this table is — and the funds also hold their private benchmarks of every comparable facility’s rates.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D6763"/>
                </a:solidFill>
                <a:latin typeface="Calibri"/>
              </a:rPr>
              <a:t>THE COUNTERPARTY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2514600"/>
            <a:ext cx="5074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D6763"/>
                </a:solidFill>
                <a:latin typeface="Calibri"/>
              </a:rPr>
              <a:t>THEIR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251460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D6763"/>
                </a:solidFill>
                <a:latin typeface="Calibri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0088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0201F"/>
                </a:solidFill>
                <a:latin typeface="Calibri"/>
              </a:rPr>
              <a:t>Health insurers, Dec 2025 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990088"/>
            <a:ext cx="5074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0201F"/>
                </a:solidFill>
                <a:latin typeface="Calibri"/>
              </a:rPr>
              <a:t>$8.6bn quarterly revenue · $417m net profit after tax · $13.1bn net assets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990088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38E"/>
                </a:solidFill>
                <a:latin typeface="Calibri"/>
              </a:rPr>
              <a:t>APRA quarterly PHI statistics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26080"/>
            <a:ext cx="10835640" cy="15240"/>
          </a:xfrm>
          <a:prstGeom prst="rect">
            <a:avLst/>
          </a:prstGeom>
          <a:solidFill>
            <a:srgbClr val="D3C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0201F"/>
                </a:solidFill>
                <a:latin typeface="Calibri"/>
              </a:rPr>
              <a:t>Market 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794760"/>
            <a:ext cx="5074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0201F"/>
                </a:solidFill>
                <a:latin typeface="Calibri"/>
              </a:rPr>
              <a:t>Top five funds hold ~80% of policies; Medibank + Bupa alone ~52%; buying groups negotiate for dozens more insurers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794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38E"/>
                </a:solidFill>
                <a:latin typeface="Calibri"/>
              </a:rPr>
              <a:t>APRA / ACCC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30752"/>
            <a:ext cx="10835640" cy="15240"/>
          </a:xfrm>
          <a:prstGeom prst="rect">
            <a:avLst/>
          </a:prstGeom>
          <a:solidFill>
            <a:srgbClr val="D3C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9943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0201F"/>
                </a:solidFill>
                <a:latin typeface="Calibri"/>
              </a:rPr>
              <a:t>Private hospitals, 2023–24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599432"/>
            <a:ext cx="5074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0201F"/>
                </a:solidFill>
                <a:latin typeface="Calibri"/>
              </a:rPr>
              <a:t>Sector profit margins fell from 5.1% (2020–21) to −0.1% — below break-even in aggregate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599432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38E"/>
                </a:solidFill>
                <a:latin typeface="Calibri"/>
              </a:rPr>
              <a:t>Private Hospital Sector Financial Health Check (2024)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535424"/>
            <a:ext cx="10835640" cy="15240"/>
          </a:xfrm>
          <a:prstGeom prst="rect">
            <a:avLst/>
          </a:prstGeom>
          <a:solidFill>
            <a:srgbClr val="D3C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404104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0201F"/>
                </a:solidFill>
                <a:latin typeface="Calibri"/>
              </a:rPr>
              <a:t>Your fallback if talks fail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5404104"/>
            <a:ext cx="5074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0201F"/>
                </a:solidFill>
                <a:latin typeface="Calibri"/>
              </a:rPr>
              <a:t>Second-tier default: ~85% of the average contracted rate — a floor the fund can compute precisely, and you probably can’t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404104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A938E"/>
                </a:solidFill>
                <a:latin typeface="Calibri"/>
              </a:rPr>
              <a:t>PHI (Benefit Requirements) 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340096"/>
            <a:ext cx="10835640" cy="15240"/>
          </a:xfrm>
          <a:prstGeom prst="rect">
            <a:avLst/>
          </a:prstGeom>
          <a:solidFill>
            <a:srgbClr val="D3C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336C69"/>
                </a:solidFill>
                <a:latin typeface="Georgia"/>
              </a:rPr>
              <a:t>Every figure above is real, public, and current — and almost none of it reaches a day hospital CEO’s negotiation file today.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160">
                <a:solidFill>
                  <a:srgbClr val="336C69"/>
                </a:solidFill>
                <a:latin typeface="Calibri"/>
              </a:rPr>
              <a:t>WHAT IT COSTS · SYNTHETIC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0201F"/>
                </a:solidFill>
                <a:latin typeface="Georgia"/>
              </a:rPr>
              <a:t>A “standard terms” agreement quietly takes 5–8% a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D6763"/>
                </a:solidFill>
                <a:latin typeface="Calibri"/>
              </a:rPr>
              <a:t>Bayview Day Surgery — our fictional but carefully realistic 4-theatre Melbourne facility ($14.2m revenue, 4.9% EBITDA). One fund, one agreement, three planted clauses of the kind we see in real HPPAs: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06040"/>
            <a:ext cx="2724912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788920"/>
            <a:ext cx="23225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36C69"/>
                </a:solidFill>
                <a:latin typeface="Calibri"/>
              </a:rPr>
              <a:t>cl. 12.3 · Discretionary indexation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D6763"/>
                </a:solidFill>
                <a:latin typeface="Calibri"/>
              </a:rPr>
              <a:t>1.9% paid in a 3.4% CPI year — "portfolio affordability"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C3D2E"/>
                </a:solidFill>
                <a:latin typeface="Calibri"/>
              </a:rPr>
              <a:t>≈ $45k / yr, compounding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606040"/>
            <a:ext cx="2724912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8" y="2788920"/>
            <a:ext cx="23225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36C69"/>
                </a:solidFill>
                <a:latin typeface="Calibri"/>
              </a:rPr>
              <a:t>cl. 8.4 · Unilateral re-banding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D6763"/>
                </a:solidFill>
                <a:latin typeface="Calibri"/>
              </a:rPr>
              <a:t>4 ophthalmic item groups moved down a band on 30 days’ notice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C3D2E"/>
                </a:solidFill>
                <a:latin typeface="Calibri"/>
              </a:rPr>
              <a:t>≈ $95–120k / yr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606040"/>
            <a:ext cx="2724912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2788920"/>
            <a:ext cx="23225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36C69"/>
                </a:solidFill>
                <a:latin typeface="Calibri"/>
              </a:rPr>
              <a:t>cl. 2.2 · Frozen holdover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D6763"/>
                </a:solidFill>
                <a:latin typeface="Calibri"/>
              </a:rPr>
              <a:t>Talks drift past expiry; rates freeze — delay is free for the fund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C3D2E"/>
                </a:solidFill>
                <a:latin typeface="Calibri"/>
              </a:rPr>
              <a:t>≈ $8–11k / 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2606040"/>
            <a:ext cx="2724912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2788920"/>
            <a:ext cx="23225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36C69"/>
                </a:solidFill>
                <a:latin typeface="Calibri"/>
              </a:rPr>
              <a:t>cl. 14.5 · 24-month set-off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D6763"/>
                </a:solidFill>
                <a:latin typeface="Calibri"/>
              </a:rPr>
              <a:t>Fund can claw back "overpayments" for 2 years; you get 30 days to lodge a claim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9C3D2E"/>
                </a:solidFill>
                <a:latin typeface="Calibri"/>
              </a:rPr>
              <a:t>audit-risk exposure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212080"/>
            <a:ext cx="10835640" cy="868680"/>
          </a:xfrm>
          <a:prstGeom prst="roundRect">
            <a:avLst>
              <a:gd name="adj" fmla="val 4500"/>
            </a:avLst>
          </a:prstGeom>
          <a:solidFill>
            <a:srgbClr val="F3F0E8"/>
          </a:solidFill>
          <a:ln w="12700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3766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0201F"/>
                </a:solidFill>
                <a:latin typeface="Georgia"/>
              </a:rPr>
              <a:t>On the demo facility this one agreement leaks ≈ $175k/yr in rates alone — most of a year’s EBITDA. A 1% improvement across a facility’s fund revenue is worth ~$100k+ a year, every year.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160">
                <a:solidFill>
                  <a:srgbClr val="336C69"/>
                </a:solidFill>
                <a:latin typeface="Calibri"/>
              </a:rPr>
              <a:t>PRODUCT 1 · THE NEGOTIATION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01F"/>
                </a:solidFill>
                <a:latin typeface="Georgia"/>
              </a:rPr>
              <a:t>Walk in with a contracting team behind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4114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Reads your contract like opposing counsel. </a:t>
            </a:r>
            <a:r>
              <a:rPr sz="1350">
                <a:solidFill>
                  <a:srgbClr val="5D6763"/>
                </a:solidFill>
                <a:latin typeface="Calibri"/>
              </a:rPr>
              <a:t>Every adverse clause found, priced, and explained.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Benchmarks your position. </a:t>
            </a:r>
            <a:r>
              <a:rPr sz="1350">
                <a:solidFill>
                  <a:srgbClr val="5D6763"/>
                </a:solidFill>
                <a:latin typeface="Calibri"/>
              </a:rPr>
              <a:t>Public industry data (APRA, Ombudsman, AIHW) + your own case mix and financials.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Prices your walk-away. </a:t>
            </a:r>
            <a:r>
              <a:rPr sz="1350">
                <a:solidFill>
                  <a:srgbClr val="5D6763"/>
                </a:solidFill>
                <a:latin typeface="Calibri"/>
              </a:rPr>
              <a:t>The second-tier default scenario modelled in dollars, not vibes.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Then runs the negotiation with you. </a:t>
            </a:r>
            <a:r>
              <a:rPr sz="1350">
                <a:solidFill>
                  <a:srgbClr val="5D6763"/>
                </a:solidFill>
                <a:latin typeface="Calibri"/>
              </a:rPr>
              <a:t>Options at every decision point — you choose, it drafts, you send.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0150" y="1764030"/>
            <a:ext cx="6530340" cy="4095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83080"/>
            <a:ext cx="6492240" cy="405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0" y="591388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8A938E"/>
                </a:solidFill>
                <a:latin typeface="Calibri"/>
              </a:rPr>
              <a:t>The renewal, at a glance — live demo, synthetic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160">
                <a:solidFill>
                  <a:srgbClr val="336C69"/>
                </a:solidFill>
                <a:latin typeface="Calibri"/>
              </a:rPr>
              <a:t>STEP 1 · ANALYSE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01F"/>
                </a:solidFill>
                <a:latin typeface="Georgia"/>
              </a:rPr>
              <a:t>A positioning paper a major group would recognise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50" y="1764030"/>
            <a:ext cx="6530340" cy="4095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positioning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649224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1388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8A938E"/>
                </a:solidFill>
                <a:latin typeface="Calibri"/>
              </a:rPr>
              <a:t>Streamed, exportable, board-ready — demo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920240"/>
            <a:ext cx="39776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Where you stand. </a:t>
            </a:r>
            <a:r>
              <a:rPr sz="1350">
                <a:solidFill>
                  <a:srgbClr val="5D6763"/>
                </a:solidFill>
                <a:latin typeface="Calibri"/>
              </a:rPr>
              <a:t>Rate position by service line, volume-weighted, with the dollar impact.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What the terms have cost. </a:t>
            </a:r>
            <a:r>
              <a:rPr sz="1350">
                <a:solidFill>
                  <a:srgbClr val="5D6763"/>
                </a:solidFill>
                <a:latin typeface="Calibri"/>
              </a:rPr>
              <a:t>The carve-out, the re-bandings, the holdover — quantified over the current term.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Your BATNA, priced. </a:t>
            </a:r>
            <a:r>
              <a:rPr sz="1350">
                <a:solidFill>
                  <a:srgbClr val="5D6763"/>
                </a:solidFill>
                <a:latin typeface="Calibri"/>
              </a:rPr>
              <a:t>Second-tier default modelled against your actual case mix.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Targets set. </a:t>
            </a:r>
            <a:r>
              <a:rPr sz="1350">
                <a:solidFill>
                  <a:srgbClr val="5D6763"/>
                </a:solidFill>
                <a:latin typeface="Calibri"/>
              </a:rPr>
              <a:t>Target / anchor / walk-away for every element — rates and terms.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160">
                <a:solidFill>
                  <a:srgbClr val="336C69"/>
                </a:solidFill>
                <a:latin typeface="Calibri"/>
              </a:rPr>
              <a:t>STEP 2 · CHOOSE YOUR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01F"/>
                </a:solidFill>
                <a:latin typeface="Georgia"/>
              </a:rPr>
              <a:t>Choose your own adventure — you stay in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4190" y="1645158"/>
            <a:ext cx="7627620" cy="4781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664208"/>
            <a:ext cx="7589520" cy="4743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9202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Options, </a:t>
            </a:r>
            <a:r>
              <a:rPr sz="1250">
                <a:solidFill>
                  <a:srgbClr val="5D6763"/>
                </a:solidFill>
                <a:latin typeface="Calibri"/>
              </a:rPr>
              <a:t>not orders.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Risks </a:t>
            </a:r>
            <a:r>
              <a:rPr sz="1250">
                <a:solidFill>
                  <a:srgbClr val="5D6763"/>
                </a:solidFill>
                <a:latin typeface="Calibri"/>
              </a:rPr>
              <a:t>stated up front.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Fund’s likely response </a:t>
            </a:r>
            <a:r>
              <a:rPr sz="1250">
                <a:solidFill>
                  <a:srgbClr val="5D6763"/>
                </a:solidFill>
                <a:latin typeface="Calibri"/>
              </a:rPr>
              <a:t>predicted for each path.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Change course </a:t>
            </a:r>
            <a:r>
              <a:rPr sz="1250">
                <a:solidFill>
                  <a:srgbClr val="5D6763"/>
                </a:solidFill>
                <a:latin typeface="Calibri"/>
              </a:rPr>
              <a:t>any time — everything re-drafts.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/>
            </a:r>
            <a:r>
              <a:rPr sz="1250">
                <a:solidFill>
                  <a:srgbClr val="5D6763"/>
                </a:solidFill>
                <a:latin typeface="Calibri"/>
              </a:rPr>
              <a:t>Three internally consistent strategies — working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160">
                <a:solidFill>
                  <a:srgbClr val="336C69"/>
                </a:solidFill>
                <a:latin typeface="Calibri"/>
              </a:rPr>
              <a:t>STEP 3 · CORRESPONDENCE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01F"/>
                </a:solidFill>
                <a:latin typeface="Georgia"/>
              </a:rPr>
              <a:t>It drafts every letter. You edit. You send.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50" y="1764030"/>
            <a:ext cx="6530340" cy="4095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l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649224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1388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8A938E"/>
                </a:solidFill>
                <a:latin typeface="Calibri"/>
              </a:rPr>
              <a:t>Opening letter for the chosen posture — demo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920240"/>
            <a:ext cx="39776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Fund-appropriate register. </a:t>
            </a:r>
            <a:r>
              <a:rPr sz="1350">
                <a:solidFill>
                  <a:srgbClr val="5D6763"/>
                </a:solidFill>
                <a:latin typeface="Calibri"/>
              </a:rPr>
              <a:t>Professional, firm, precise — the letter a contracting team would write.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Your asks, structured. </a:t>
            </a:r>
            <a:r>
              <a:rPr sz="1350">
                <a:solidFill>
                  <a:srgbClr val="5D6763"/>
                </a:solidFill>
                <a:latin typeface="Calibri"/>
              </a:rPr>
              <a:t>Rates and terms held together as one package, with deadlines attached.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Nothing sent autonomously. </a:t>
            </a:r>
            <a:r>
              <a:rPr sz="1350">
                <a:solidFill>
                  <a:srgbClr val="5D6763"/>
                </a:solidFill>
                <a:latin typeface="Calibri"/>
              </a:rPr>
              <a:t>The copilot has no send button. Ever. That is a design principle, not a disclaimer.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160">
                <a:solidFill>
                  <a:srgbClr val="336C69"/>
                </a:solidFill>
                <a:latin typeface="Calibri"/>
              </a:rPr>
              <a:t>STEP 4 · THE FUND REPLIES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01F"/>
                </a:solidFill>
                <a:latin typeface="Georgia"/>
              </a:rPr>
              <a:t>It reads their letter for the traps you’d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4190" y="1645158"/>
            <a:ext cx="7627620" cy="47815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di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664208"/>
            <a:ext cx="7589520" cy="4743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920240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“Warm” ≠ movement. </a:t>
            </a:r>
            <a:r>
              <a:rPr sz="1250">
                <a:solidFill>
                  <a:srgbClr val="5D6763"/>
                </a:solidFill>
                <a:latin typeface="Calibri"/>
              </a:rPr>
              <a:t>The digest scores real concessions.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Wording traps flagged. </a:t>
            </a:r>
            <a:r>
              <a:rPr sz="1250">
                <a:solidFill>
                  <a:srgbClr val="5D6763"/>
                </a:solidFill>
                <a:latin typeface="Calibri"/>
              </a:rPr>
              <a:t>e.g. a “floor” that legalises 50% indexation.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Counter drafted </a:t>
            </a:r>
            <a:r>
              <a:rPr sz="1250">
                <a:solidFill>
                  <a:srgbClr val="5D6763"/>
                </a:solidFill>
                <a:latin typeface="Calibri"/>
              </a:rPr>
              <a:t>within the strategy you chose.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/>
            </a:r>
            <a:r>
              <a:rPr sz="1250">
                <a:solidFill>
                  <a:srgbClr val="5D6763"/>
                </a:solidFill>
                <a:latin typeface="Calibri"/>
              </a:rPr>
              <a:t>Line-by-line digest and movement scorecard — working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160">
                <a:solidFill>
                  <a:srgbClr val="336C69"/>
                </a:solidFill>
                <a:latin typeface="Calibri"/>
              </a:rPr>
              <a:t>PRODUCT 2 · THE CONTRACT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01F"/>
                </a:solidFill>
                <a:latin typeface="Georgia"/>
              </a:rPr>
              <a:t>Your whole team can finally ask the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50" y="1764030"/>
            <a:ext cx="6530340" cy="40957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-oracle-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649224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1388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8A938E"/>
                </a:solidFill>
                <a:latin typeface="Calibri"/>
              </a:rPr>
              <a:t>Every answer cites clause and source, and states confidence —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920240"/>
            <a:ext cx="39776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Grounded, cited, scored. </a:t>
            </a:r>
            <a:r>
              <a:rPr sz="1350">
                <a:solidFill>
                  <a:srgbClr val="5D6763"/>
                </a:solidFill>
                <a:latin typeface="Calibri"/>
              </a:rPr>
              <a:t>Answers come from your executed HPPAs, the legislation, and your own policy register — with clause-level citations and a confidence rating.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Honest about silence. </a:t>
            </a:r>
            <a:r>
              <a:rPr sz="1350">
                <a:solidFill>
                  <a:srgbClr val="5D6763"/>
                </a:solidFill>
                <a:latin typeface="Calibri"/>
              </a:rPr>
              <a:t>Where the contract doesn’t answer, it says so and recommends escalation. It never invents a clause.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 b="1">
                <a:solidFill>
                  <a:srgbClr val="10201F"/>
                </a:solidFill>
                <a:latin typeface="Calibri"/>
              </a:rPr>
              <a:t>Front desk to theatre. </a:t>
            </a:r>
            <a:r>
              <a:rPr sz="1350">
                <a:solidFill>
                  <a:srgbClr val="5D6763"/>
                </a:solidFill>
                <a:latin typeface="Calibri"/>
              </a:rPr>
              <a:t>Excess collection, IFC, lens upgrades, transfer rules, audit notices — answered in seconds, consistently.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160">
                <a:solidFill>
                  <a:srgbClr val="C9A227"/>
                </a:solidFill>
                <a:latin typeface="Calibri"/>
              </a:rPr>
              <a:t>WHY YOU CAN TRUST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Human-in-the-loop isn’t a disclaimer.</a:t>
            </a:r>
            <a:br/>
            <a:r>
              <a:rPr sz="3000" b="1" i="0">
                <a:solidFill>
                  <a:srgbClr val="FFFFFF"/>
                </a:solidFill>
                <a:latin typeface="Georgia"/>
              </a:rPr>
              <a:t>It’s the architecture.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43200"/>
            <a:ext cx="548640" cy="317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You decide, always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9E6E4"/>
                </a:solidFill>
                <a:latin typeface="Calibri"/>
              </a:rPr>
              <a:t>Every action is proposed, never taken. The copilot cannot send, agree, or concede anything. The audit trail shows a human choice at every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743200"/>
            <a:ext cx="548640" cy="317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92608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Your data stays yours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9E6E4"/>
                </a:solidFill>
                <a:latin typeface="Calibri"/>
              </a:rPr>
              <a:t>Strict per-facility isolation. Your rates and financials are never used to benchmark, train, or inform any other customer. Benchmarks come from public data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2743200"/>
            <a:ext cx="548640" cy="317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92608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Built for a regulated sector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9E6E4"/>
                </a:solidFill>
                <a:latin typeface="Calibri"/>
              </a:rPr>
              <a:t>Privacy Act / APP-aligned handling, Australian data residency, security review before any real data is touched. Decision support — not legal or financial advice, and it says so on every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E8C96A"/>
                </a:solidFill>
                <a:latin typeface="Georgia"/>
              </a:rPr>
              <a:t>And one bright line: the platform serves one hospital against its fund. It will never share or align rates between competing hospitals.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D9E6E4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D9E6E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160">
                <a:solidFill>
                  <a:srgbClr val="336C69"/>
                </a:solidFill>
                <a:latin typeface="Calibri"/>
              </a:rPr>
              <a:t>THE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01F"/>
                </a:solidFill>
                <a:latin typeface="Georgia"/>
              </a:rPr>
              <a:t>What a pilot involves — and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2578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709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336C69"/>
                </a:solidFill>
                <a:latin typeface="Calibri"/>
              </a:rPr>
              <a:t>Your commitment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12 weeks, </a:t>
            </a:r>
            <a:r>
              <a:rPr sz="1250">
                <a:solidFill>
                  <a:srgbClr val="5D6763"/>
                </a:solidFill>
                <a:latin typeface="Calibri"/>
              </a:rPr>
              <a:t>timed to your next HPPA renewal window.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Your documents: </a:t>
            </a:r>
            <a:r>
              <a:rPr sz="1250">
                <a:solidFill>
                  <a:srgbClr val="5D6763"/>
                </a:solidFill>
                <a:latin typeface="Calibri"/>
              </a:rPr>
              <a:t>the expiring HPPA, 12–24 months of billing/case-mix extracts, your P&amp;L. Under NDA, with agreed handling and deletion terms.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2–3 hours a fortnight </a:t>
            </a:r>
            <a:r>
              <a:rPr sz="1250">
                <a:solidFill>
                  <a:srgbClr val="5D6763"/>
                </a:solidFill>
                <a:latin typeface="Calibri"/>
              </a:rPr>
              <a:t>from you or your business manager — the negotiation is still yours.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Candour: </a:t>
            </a:r>
            <a:r>
              <a:rPr sz="1250">
                <a:solidFill>
                  <a:srgbClr val="5D6763"/>
                </a:solidFill>
                <a:latin typeface="Calibri"/>
              </a:rPr>
              <a:t>tell us what’s wrong, what’s missing, what you wouldn’t pay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25780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CE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709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336C69"/>
                </a:solidFill>
                <a:latin typeface="Calibri"/>
              </a:rPr>
              <a:t>What you get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Free pilot access </a:t>
            </a:r>
            <a:r>
              <a:rPr sz="1250">
                <a:solidFill>
                  <a:srgbClr val="5D6763"/>
                </a:solidFill>
                <a:latin typeface="Calibri"/>
              </a:rPr>
              <a:t>to both products for the duration.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A real positioning paper </a:t>
            </a:r>
            <a:r>
              <a:rPr sz="1250">
                <a:solidFill>
                  <a:srgbClr val="5D6763"/>
                </a:solidFill>
                <a:latin typeface="Calibri"/>
              </a:rPr>
              <a:t>for your live negotiation — clause analysis, benchmarks, priced walk-away, targets.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Drafted correspondence </a:t>
            </a:r>
            <a:r>
              <a:rPr sz="1250">
                <a:solidFill>
                  <a:srgbClr val="5D6763"/>
                </a:solidFill>
                <a:latin typeface="Calibri"/>
              </a:rPr>
              <a:t>through your actual negotiation rounds.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10201F"/>
                </a:solidFill>
                <a:latin typeface="Calibri"/>
              </a:rPr>
              <a:t>First-customer pricing </a:t>
            </a:r>
            <a:r>
              <a:rPr sz="1250">
                <a:solidFill>
                  <a:srgbClr val="5D6763"/>
                </a:solidFill>
                <a:latin typeface="Calibri"/>
              </a:rPr>
              <a:t>locked in if you continue — and a real say in the roadmap.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spc="160">
                <a:solidFill>
                  <a:srgbClr val="336C69"/>
                </a:solidFill>
                <a:latin typeface="Calibri"/>
              </a:rPr>
              <a:t>WHO WE ARE &amp; WHAT WE’RE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01F"/>
                </a:solidFill>
                <a:latin typeface="Georgia"/>
              </a:rPr>
              <a:t>We’re recruiting 2–3 founding pilot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336C69"/>
                </a:solidFill>
                <a:latin typeface="Calibri"/>
              </a:rPr>
              <a:t>Who we are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5D6763"/>
                </a:solidFill>
                <a:latin typeface="Calibri"/>
              </a:rPr>
              <a:t>A venture in formation: product and AI engineering with health-sector revenue-cycle domain input, building in the open with Day Hospitals Australia and APHA networks. The prototype behind every screenshot in this deck is working today — on synthetic data, by design: no real hospital data will be touched before independent security review.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336C69"/>
                </a:solidFill>
                <a:latin typeface="Calibri"/>
              </a:rPr>
              <a:t>Why now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D6763"/>
                </a:solidFill>
                <a:latin typeface="Calibri"/>
              </a:rPr>
              <a:t>Sector margins are at break-even, contracting disputes are national news, and AI can finally read a 40-page HPPA reliably enough to matter — with a human deciding every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74519"/>
            <a:ext cx="4846320" cy="4023360"/>
          </a:xfrm>
          <a:prstGeom prst="roundRect">
            <a:avLst>
              <a:gd name="adj" fmla="val 4500"/>
            </a:avLst>
          </a:prstGeom>
          <a:solidFill>
            <a:srgbClr val="1D403E"/>
          </a:solidFill>
          <a:ln w="12700">
            <a:solidFill>
              <a:srgbClr val="1D40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2148840"/>
            <a:ext cx="4206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C9A227"/>
                </a:solidFill>
                <a:latin typeface="Calibri"/>
              </a:rPr>
              <a:t>The ask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One conversation </a:t>
            </a:r>
            <a:r>
              <a:rPr sz="1350">
                <a:solidFill>
                  <a:srgbClr val="D9E6E4"/>
                </a:solidFill>
                <a:latin typeface="Calibri"/>
              </a:rPr>
              <a:t>about your next renewal date and your last negotiation.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One document </a:t>
            </a:r>
            <a:r>
              <a:rPr sz="1350">
                <a:solidFill>
                  <a:srgbClr val="D9E6E4"/>
                </a:solidFill>
                <a:latin typeface="Calibri"/>
              </a:rPr>
              <a:t>— your expiring HPPA — under NDA, when you’re ready.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One pilot slot </a:t>
            </a:r>
            <a:r>
              <a:rPr sz="1350">
                <a:solidFill>
                  <a:srgbClr val="D9E6E4"/>
                </a:solidFill>
                <a:latin typeface="Calibri"/>
              </a:rPr>
              <a:t>— 2–3 facilities, first come, renewal-date priority.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938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468880"/>
            <a:ext cx="100584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Next step: a 30-minute demo,</a:t>
            </a:r>
            <a:br/>
            <a:r>
              <a:rPr sz="3400" b="1" i="0">
                <a:solidFill>
                  <a:srgbClr val="FFFFFF"/>
                </a:solidFill>
                <a:latin typeface="Georgia"/>
              </a:rPr>
              <a:t>on your numbers-shaped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D9E6E4"/>
                </a:solidFill>
                <a:latin typeface="Calibri"/>
              </a:rPr>
              <a:t>We’ll walk the full negotiation flow live — dashboard to board pack — and leave you the positioning-paper sample.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AA5A2"/>
                </a:solidFill>
                <a:latin typeface="Calibri"/>
              </a:rPr>
              <a:t>Counterpart Health · pilot enquiries — [contact to be added] · This deck’s product imagery is a working demo on synthetic data; public figures cited to APRA, DoHAC, ACCC and the PHI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D9E6E4"/>
                </a:solidFill>
                <a:latin typeface="Calibri"/>
              </a:rPr>
              <a:t>Counterpart Health — pilot briefing · demonstration uses synthetic data · not legal or financial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D9E6E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